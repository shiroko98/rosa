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8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8BDD4E-E93E-264D-8863-A5304D8DB1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07CEE65-0214-49F2-9EB5-A464EE25FE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977F4C-0929-1EC9-AAE4-BCA8F805B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DED8E-E7C3-48A4-8083-BB05D0F796EC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2C4F2C-121F-0847-E82C-C871B94FB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626832-3DD7-3E75-6BA0-C79E2714B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09AF-9B32-4F05-818D-63C05388A5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740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9AE96E-14CE-8625-39E3-14F45338F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A1F38E-552E-0CE2-98A1-15EC491DB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9147B9-FCDE-A10A-304A-253A8B58F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DED8E-E7C3-48A4-8083-BB05D0F796EC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FF5E4A-F690-E8B9-5D83-66A804F6B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B78B89-3FFB-D864-9FFE-4D33F6145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09AF-9B32-4F05-818D-63C05388A5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810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C64D37-F91D-1448-CBEE-BC49B8819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E93532-590A-99C1-51EB-DB0967247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719C47-ACBF-2581-B896-A6B61DED9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DED8E-E7C3-48A4-8083-BB05D0F796EC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0A894F-112E-3C99-7509-EEA6E8564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F6F3B5-412B-F0D5-3C47-49B13BA93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09AF-9B32-4F05-818D-63C05388A5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176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9ECFDD-C31B-A256-766A-BB7C54DC1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D46161-78F0-3959-C6C0-728328C504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4E1F063-94F3-DFD2-EF8B-93326C5912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9E524C-766A-84A8-B42F-82B4C9DFE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DED8E-E7C3-48A4-8083-BB05D0F796EC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7DED92-9D4B-9A25-2E27-9D418E9FC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B63EC0-0009-E635-3A7F-B6436F3BC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09AF-9B32-4F05-818D-63C05388A5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0655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E88152-0543-180E-C4F4-D7C072189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B07CD6-ADDC-7136-6025-09604F338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FE7208-4533-FC22-AD61-E0FE9D9A30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C7B04C6-8D16-9756-047E-ED0D461A3F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EB1AC46-37E5-8732-0C7F-4C7D4B7A79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04CA167-EC36-4E88-0A58-B52118756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DED8E-E7C3-48A4-8083-BB05D0F796EC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CBB908D-B761-CB42-B6B1-987F9E056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0171813-1BFB-A3D6-BF9E-D0961A960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09AF-9B32-4F05-818D-63C05388A5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4770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680F81-823A-8CE4-3122-7F38844A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D97376B-B147-242F-1D4A-8D22A2244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DED8E-E7C3-48A4-8083-BB05D0F796EC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51258B-9901-1E4E-3949-D132BB405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CC9999C-1D3F-D6FB-CF47-45C02C358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09AF-9B32-4F05-818D-63C05388A5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383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6EBF51E-6CC0-E62D-A983-1BF2F8C96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DED8E-E7C3-48A4-8083-BB05D0F796EC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54B3FFD-89D3-1CAA-5157-6DCAFF6B3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D5FA6E-7744-0823-5B16-FD7E921DC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09AF-9B32-4F05-818D-63C05388A5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1974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6501A7-83AF-5AE5-9870-EC1914C36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B063BC-092A-719E-5D83-20130D108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7F144B1-7CB1-B459-58C1-C0CFF2A7BF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B9242D-430F-06B2-FA71-C42BB280E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DED8E-E7C3-48A4-8083-BB05D0F796EC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E01DCB-8367-5D0D-D59B-10DFE14FF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871D3D-32F8-A5A1-B4B5-69148AAAC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09AF-9B32-4F05-818D-63C05388A5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5628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DCDB92-E31A-2B11-6796-82C53F6C5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833FA6D-CD4E-50A3-1FB2-575B649406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A888230-9F22-2BC7-E067-882C7FAEDC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075C5C-7CE5-FF5C-EE66-FD6D0C799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DED8E-E7C3-48A4-8083-BB05D0F796EC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FDF029-45B7-8433-3BE9-1869712CA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0EB161-A8F6-9069-B090-E661721C6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09AF-9B32-4F05-818D-63C05388A5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7436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E4ED84-7FAA-E779-6C08-27D6EC4CE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3854F7-6955-A96E-DE36-BAD39E2231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1520B-998F-4031-7856-DEB8146F5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DED8E-E7C3-48A4-8083-BB05D0F796EC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38BE56-65A3-36A9-6AE6-CEECDC962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2FE294-4F4E-E098-A050-93B0625CF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09AF-9B32-4F05-818D-63C05388A5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749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30B6965-48F2-1E29-EFC5-826044ABDF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27D422F-6BC0-542C-5A3D-DC68373FFB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86DC9E-FAA3-79CB-5A1A-862A1000F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DED8E-E7C3-48A4-8083-BB05D0F796EC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9CACB0-D6BD-598D-0958-CC3B63BDC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7BB0BC-EC52-860F-AC75-3C79C59F1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09AF-9B32-4F05-818D-63C05388A5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50013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D83076-A205-6FE0-57C8-1BB2D1253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834929-4286-E477-A802-48738B197F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2F3A57-9D21-0A21-D1CB-E73D4771A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DED8E-E7C3-48A4-8083-BB05D0F796EC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42767C-5F9D-4F2E-32CD-88F37245A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145A94-55F1-809B-A49A-07FE18EB9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09AF-9B32-4F05-818D-63C05388A5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3932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16B1C7A-9EC6-919B-D582-658CA0CBA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88D426-B2E2-6C63-663D-CA2CD5A48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52CED1-0349-851A-981C-FBC10FAE02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FDED8E-E7C3-48A4-8083-BB05D0F796EC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6C7DBD-CF9A-7E9E-9548-1C360A22AE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7F977C-7879-F327-D008-5CE7C1BE7E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A209AF-9B32-4F05-818D-63C05388A5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0780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70A047-6D68-35A1-A4B8-924FA64B95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2800" b="1">
                <a:latin typeface="Microsoft YaHei UI" panose="020B0503020204020204" pitchFamily="34" charset="-122"/>
              </a:rPr>
              <a:t>当前 </a:t>
            </a:r>
            <a:r>
              <a:rPr lang="en-US" altLang="zh-CN" sz="2800" b="1">
                <a:latin typeface="Microsoft YaHei UI" panose="020B0503020204020204" pitchFamily="34" charset="-122"/>
              </a:rPr>
              <a:t>ROSA </a:t>
            </a:r>
            <a:r>
              <a:rPr lang="zh-CN" altLang="en-US" sz="2800" b="1">
                <a:latin typeface="Microsoft YaHei UI" panose="020B0503020204020204" pitchFamily="34" charset="-122"/>
              </a:rPr>
              <a:t>实现技术方案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AC7BFFA-B5E6-3796-9EFE-938370AEDB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1800">
                <a:latin typeface="Microsoft YaHei" panose="020B0503020204020204" pitchFamily="34" charset="-122"/>
              </a:rPr>
              <a:t>在线地址主线、</a:t>
            </a:r>
            <a:r>
              <a:rPr lang="en-US" altLang="zh-CN" sz="1800">
                <a:latin typeface="Microsoft YaHei" panose="020B0503020204020204" pitchFamily="34" charset="-122"/>
              </a:rPr>
              <a:t>SAM </a:t>
            </a:r>
            <a:r>
              <a:rPr lang="zh-CN" altLang="en-US" sz="1800">
                <a:latin typeface="Microsoft YaHei" panose="020B0503020204020204" pitchFamily="34" charset="-122"/>
              </a:rPr>
              <a:t>状态、注入与运行时工程</a:t>
            </a:r>
          </a:p>
          <a:p>
            <a:r>
              <a:rPr lang="zh-CN" altLang="en-US" sz="1800">
                <a:latin typeface="Microsoft YaHei" panose="020B0503020204020204" pitchFamily="34" charset="-122"/>
              </a:rPr>
              <a:t>仓库主入口：</a:t>
            </a:r>
            <a:r>
              <a:rPr lang="en-US" altLang="zh-CN" sz="1800">
                <a:latin typeface="Microsoft YaHei" panose="020B0503020204020204" pitchFamily="34" charset="-122"/>
              </a:rPr>
              <a:t>train_qwen_llama_vs_rosa_v2.py</a:t>
            </a:r>
            <a:endParaRPr lang="zh-CN" altLang="en-US" sz="1800"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8139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2F9766-AC1F-9726-B52B-CECE465FC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b="1">
                <a:latin typeface="Microsoft YaHei UI" panose="020B0503020204020204" pitchFamily="34" charset="-122"/>
              </a:rPr>
              <a:t>系统目标与总体架构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857EE2-7E44-A929-4400-290239F54B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zh-CN" sz="2000"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latin typeface="Microsoft YaHei" panose="020B0503020204020204" pitchFamily="34" charset="-122"/>
              </a:rPr>
              <a:t>目标：在同一套 </a:t>
            </a:r>
            <a:r>
              <a:rPr lang="en-US" altLang="zh-CN" sz="2000">
                <a:latin typeface="Microsoft YaHei" panose="020B0503020204020204" pitchFamily="34" charset="-122"/>
              </a:rPr>
              <a:t>Qwen/LLaMA </a:t>
            </a:r>
            <a:r>
              <a:rPr lang="zh-CN" altLang="en-US" sz="2000">
                <a:latin typeface="Microsoft YaHei" panose="020B0503020204020204" pitchFamily="34" charset="-122"/>
              </a:rPr>
              <a:t>风格 </a:t>
            </a:r>
            <a:r>
              <a:rPr lang="en-US" altLang="zh-CN" sz="2000">
                <a:latin typeface="Microsoft YaHei" panose="020B0503020204020204" pitchFamily="34" charset="-122"/>
              </a:rPr>
              <a:t>decoder-only </a:t>
            </a:r>
            <a:r>
              <a:rPr lang="zh-CN" altLang="en-US" sz="2000">
                <a:latin typeface="Microsoft YaHei" panose="020B0503020204020204" pitchFamily="34" charset="-122"/>
              </a:rPr>
              <a:t>主干上，对比 </a:t>
            </a:r>
            <a:r>
              <a:rPr lang="en-US" altLang="zh-CN" sz="2000">
                <a:latin typeface="Microsoft YaHei" panose="020B0503020204020204" pitchFamily="34" charset="-122"/>
              </a:rPr>
              <a:t>baseline </a:t>
            </a:r>
            <a:r>
              <a:rPr lang="zh-CN" altLang="en-US" sz="2000">
                <a:latin typeface="Microsoft YaHei" panose="020B0503020204020204" pitchFamily="34" charset="-122"/>
              </a:rPr>
              <a:t>与 </a:t>
            </a:r>
            <a:r>
              <a:rPr lang="en-US" altLang="zh-CN" sz="2000">
                <a:latin typeface="Microsoft YaHei" panose="020B0503020204020204" pitchFamily="34" charset="-122"/>
              </a:rPr>
              <a:t>rosa_fused</a:t>
            </a:r>
            <a:r>
              <a:rPr lang="zh-CN" altLang="en-US" sz="2000">
                <a:latin typeface="Microsoft YaHei" panose="020B0503020204020204" pitchFamily="34" charset="-122"/>
              </a:rPr>
              <a:t>。</a:t>
            </a:r>
          </a:p>
          <a:p>
            <a:pPr>
              <a:spcAft>
                <a:spcPts val="600"/>
              </a:spcAft>
            </a:pPr>
            <a:r>
              <a:rPr lang="en-US" altLang="zh-CN" sz="2000"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latin typeface="Microsoft YaHei" panose="020B0503020204020204" pitchFamily="34" charset="-122"/>
              </a:rPr>
              <a:t>公平性约束：主干结构一致、参数量对齐、初始化一致、训练脚本统一。</a:t>
            </a:r>
          </a:p>
          <a:p>
            <a:pPr>
              <a:spcAft>
                <a:spcPts val="600"/>
              </a:spcAft>
            </a:pPr>
            <a:r>
              <a:rPr lang="en-US" altLang="zh-CN" sz="2000"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latin typeface="Microsoft YaHei" panose="020B0503020204020204" pitchFamily="34" charset="-122"/>
              </a:rPr>
              <a:t>当前训练主线：</a:t>
            </a:r>
            <a:r>
              <a:rPr lang="en-US" altLang="zh-CN" sz="2000">
                <a:latin typeface="Microsoft YaHei" panose="020B0503020204020204" pitchFamily="34" charset="-122"/>
              </a:rPr>
              <a:t>rosa_train_mode = online_seq</a:t>
            </a:r>
            <a:r>
              <a:rPr lang="zh-CN" altLang="en-US" sz="2000">
                <a:latin typeface="Microsoft YaHei" panose="020B0503020204020204" pitchFamily="34" charset="-122"/>
              </a:rPr>
              <a:t>；旧 </a:t>
            </a:r>
            <a:r>
              <a:rPr lang="en-US" altLang="zh-CN" sz="2000">
                <a:latin typeface="Microsoft YaHei" panose="020B0503020204020204" pitchFamily="34" charset="-122"/>
              </a:rPr>
              <a:t>doc_local + sam precompute </a:t>
            </a:r>
            <a:r>
              <a:rPr lang="zh-CN" altLang="en-US" sz="2000">
                <a:latin typeface="Microsoft YaHei" panose="020B0503020204020204" pitchFamily="34" charset="-122"/>
              </a:rPr>
              <a:t>保留为 </a:t>
            </a:r>
            <a:r>
              <a:rPr lang="en-US" altLang="zh-CN" sz="2000">
                <a:latin typeface="Microsoft YaHei" panose="020B0503020204020204" pitchFamily="34" charset="-122"/>
              </a:rPr>
              <a:t>reference_precompute</a:t>
            </a:r>
            <a:r>
              <a:rPr lang="zh-CN" altLang="en-US" sz="2000">
                <a:latin typeface="Microsoft YaHei" panose="020B0503020204020204" pitchFamily="34" charset="-122"/>
              </a:rPr>
              <a:t>。</a:t>
            </a:r>
          </a:p>
          <a:p>
            <a:pPr>
              <a:spcAft>
                <a:spcPts val="600"/>
              </a:spcAft>
            </a:pPr>
            <a:r>
              <a:rPr lang="en-US" altLang="zh-CN" sz="2000"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latin typeface="Microsoft YaHei" panose="020B0503020204020204" pitchFamily="34" charset="-122"/>
              </a:rPr>
              <a:t>核心模块：</a:t>
            </a:r>
            <a:r>
              <a:rPr lang="en-US" altLang="zh-CN" sz="2000">
                <a:latin typeface="Microsoft YaHei" panose="020B0503020204020204" pitchFamily="34" charset="-122"/>
              </a:rPr>
              <a:t>train_qwen_llama_vs_rosa_v2.py</a:t>
            </a:r>
            <a:r>
              <a:rPr lang="zh-CN" altLang="en-US" sz="2000">
                <a:latin typeface="Microsoft YaHei" panose="020B0503020204020204" pitchFamily="34" charset="-122"/>
              </a:rPr>
              <a:t>、</a:t>
            </a:r>
            <a:r>
              <a:rPr lang="en-US" altLang="zh-CN" sz="2000">
                <a:latin typeface="Microsoft YaHei" panose="020B0503020204020204" pitchFamily="34" charset="-122"/>
              </a:rPr>
              <a:t>rosa_addressing.py</a:t>
            </a:r>
            <a:r>
              <a:rPr lang="zh-CN" altLang="en-US" sz="2000">
                <a:latin typeface="Microsoft YaHei" panose="020B0503020204020204" pitchFamily="34" charset="-122"/>
              </a:rPr>
              <a:t>、</a:t>
            </a:r>
            <a:r>
              <a:rPr lang="en-US" altLang="zh-CN" sz="2000">
                <a:latin typeface="Microsoft YaHei" panose="020B0503020204020204" pitchFamily="34" charset="-122"/>
              </a:rPr>
              <a:t>rosa_runtime.py</a:t>
            </a:r>
            <a:r>
              <a:rPr lang="zh-CN" altLang="en-US" sz="2000">
                <a:latin typeface="Microsoft YaHei" panose="020B0503020204020204" pitchFamily="34" charset="-122"/>
              </a:rPr>
              <a:t>、</a:t>
            </a:r>
            <a:r>
              <a:rPr lang="en-US" altLang="zh-CN" sz="2000">
                <a:latin typeface="Microsoft YaHei" panose="020B0503020204020204" pitchFamily="34" charset="-122"/>
              </a:rPr>
              <a:t>rosa_session.py</a:t>
            </a:r>
            <a:r>
              <a:rPr lang="zh-CN" altLang="en-US" sz="2000">
                <a:latin typeface="Microsoft YaHei" panose="020B0503020204020204" pitchFamily="34" charset="-122"/>
              </a:rPr>
              <a:t>。</a:t>
            </a:r>
          </a:p>
          <a:p>
            <a:pPr>
              <a:spcAft>
                <a:spcPts val="600"/>
              </a:spcAft>
            </a:pPr>
            <a:r>
              <a:rPr lang="en-US" altLang="zh-CN" sz="2000"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latin typeface="Microsoft YaHei" panose="020B0503020204020204" pitchFamily="34" charset="-122"/>
              </a:rPr>
              <a:t>实验工具：</a:t>
            </a:r>
            <a:r>
              <a:rPr lang="en-US" altLang="zh-CN" sz="2000">
                <a:latin typeface="Microsoft YaHei" panose="020B0503020204020204" pitchFamily="34" charset="-122"/>
              </a:rPr>
              <a:t>profile_rosa_online_baseline.py </a:t>
            </a:r>
            <a:r>
              <a:rPr lang="zh-CN" altLang="en-US" sz="2000">
                <a:latin typeface="Microsoft YaHei" panose="020B0503020204020204" pitchFamily="34" charset="-122"/>
              </a:rPr>
              <a:t>与 </a:t>
            </a:r>
            <a:r>
              <a:rPr lang="en-US" altLang="zh-CN" sz="2000">
                <a:latin typeface="Microsoft YaHei" panose="020B0503020204020204" pitchFamily="34" charset="-122"/>
              </a:rPr>
              <a:t>scan_rosa_injection_layers.py</a:t>
            </a:r>
            <a:r>
              <a:rPr lang="zh-CN" altLang="en-US" sz="2000">
                <a:latin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019445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EC234D-76FA-36A3-54DE-8E060193C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b="1">
                <a:latin typeface="Microsoft YaHei UI" panose="020B0503020204020204" pitchFamily="34" charset="-122"/>
              </a:rPr>
              <a:t>地址生成主线（</a:t>
            </a:r>
            <a:r>
              <a:rPr lang="en-US" altLang="zh-CN" sz="2400" b="1">
                <a:latin typeface="Microsoft YaHei UI" panose="020B0503020204020204" pitchFamily="34" charset="-122"/>
              </a:rPr>
              <a:t>AddressEngine + Online SAM</a:t>
            </a:r>
            <a:r>
              <a:rPr lang="zh-CN" altLang="en-US" sz="2400" b="1">
                <a:latin typeface="Microsoft YaHei UI" panose="020B0503020204020204" pitchFamily="34" charset="-122"/>
              </a:rPr>
              <a:t>）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D3CE0B-515D-C808-0A4F-A2D286B04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zh-CN" sz="2000"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latin typeface="Microsoft YaHei" panose="020B0503020204020204" pitchFamily="34" charset="-122"/>
              </a:rPr>
              <a:t>统一入口：</a:t>
            </a:r>
            <a:r>
              <a:rPr lang="en-US" altLang="zh-CN" sz="2000">
                <a:latin typeface="Microsoft YaHei" panose="020B0503020204020204" pitchFamily="34" charset="-122"/>
              </a:rPr>
              <a:t>RosaAddressEngine.forward_seq() </a:t>
            </a:r>
            <a:r>
              <a:rPr lang="zh-CN" altLang="en-US" sz="2000">
                <a:latin typeface="Microsoft YaHei" panose="020B0503020204020204" pitchFamily="34" charset="-122"/>
              </a:rPr>
              <a:t>与 </a:t>
            </a:r>
            <a:r>
              <a:rPr lang="en-US" altLang="zh-CN" sz="2000">
                <a:latin typeface="Microsoft YaHei" panose="020B0503020204020204" pitchFamily="34" charset="-122"/>
              </a:rPr>
              <a:t>forward_step()</a:t>
            </a:r>
            <a:r>
              <a:rPr lang="zh-CN" altLang="en-US" sz="2000">
                <a:latin typeface="Microsoft YaHei" panose="020B0503020204020204" pitchFamily="34" charset="-122"/>
              </a:rPr>
              <a:t>，把训练 </a:t>
            </a:r>
            <a:r>
              <a:rPr lang="en-US" altLang="zh-CN" sz="2000">
                <a:latin typeface="Microsoft YaHei" panose="020B0503020204020204" pitchFamily="34" charset="-122"/>
              </a:rPr>
              <a:t>prefill</a:t>
            </a:r>
            <a:r>
              <a:rPr lang="zh-CN" altLang="en-US" sz="2000">
                <a:latin typeface="Microsoft YaHei" panose="020B0503020204020204" pitchFamily="34" charset="-122"/>
              </a:rPr>
              <a:t>、推理解码、</a:t>
            </a:r>
            <a:r>
              <a:rPr lang="en-US" altLang="zh-CN" sz="2000">
                <a:latin typeface="Microsoft YaHei" panose="020B0503020204020204" pitchFamily="34" charset="-122"/>
              </a:rPr>
              <a:t>reference </a:t>
            </a:r>
            <a:r>
              <a:rPr lang="zh-CN" altLang="en-US" sz="2000">
                <a:latin typeface="Microsoft YaHei" panose="020B0503020204020204" pitchFamily="34" charset="-122"/>
              </a:rPr>
              <a:t>回归统一到同一地址抽象。</a:t>
            </a:r>
          </a:p>
          <a:p>
            <a:pPr>
              <a:spcAft>
                <a:spcPts val="600"/>
              </a:spcAft>
            </a:pPr>
            <a:r>
              <a:rPr lang="en-US" altLang="zh-CN" sz="2000"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latin typeface="Microsoft YaHei" panose="020B0503020204020204" pitchFamily="34" charset="-122"/>
              </a:rPr>
              <a:t>地址模式：</a:t>
            </a:r>
            <a:r>
              <a:rPr lang="en-US" altLang="zh-CN" sz="2000">
                <a:latin typeface="Microsoft YaHei" panose="020B0503020204020204" pitchFamily="34" charset="-122"/>
              </a:rPr>
              <a:t>reference_backend</a:t>
            </a:r>
            <a:r>
              <a:rPr lang="zh-CN" altLang="en-US" sz="2000">
                <a:latin typeface="Microsoft YaHei" panose="020B0503020204020204" pitchFamily="34" charset="-122"/>
              </a:rPr>
              <a:t>、</a:t>
            </a:r>
            <a:r>
              <a:rPr lang="en-US" altLang="zh-CN" sz="2000">
                <a:latin typeface="Microsoft YaHei" panose="020B0503020204020204" pitchFamily="34" charset="-122"/>
              </a:rPr>
              <a:t>online_exact</a:t>
            </a:r>
            <a:r>
              <a:rPr lang="zh-CN" altLang="en-US" sz="2000">
                <a:latin typeface="Microsoft YaHei" panose="020B0503020204020204" pitchFamily="34" charset="-122"/>
              </a:rPr>
              <a:t>、</a:t>
            </a:r>
            <a:r>
              <a:rPr lang="en-US" altLang="zh-CN" sz="2000">
                <a:latin typeface="Microsoft YaHei" panose="020B0503020204020204" pitchFamily="34" charset="-122"/>
              </a:rPr>
              <a:t>online_sam</a:t>
            </a:r>
            <a:r>
              <a:rPr lang="zh-CN" altLang="en-US" sz="2000">
                <a:latin typeface="Microsoft YaHei" panose="020B0503020204020204" pitchFamily="34" charset="-122"/>
              </a:rPr>
              <a:t>；其中 </a:t>
            </a:r>
            <a:r>
              <a:rPr lang="en-US" altLang="zh-CN" sz="2000">
                <a:latin typeface="Microsoft YaHei" panose="020B0503020204020204" pitchFamily="34" charset="-122"/>
              </a:rPr>
              <a:t>online_sam </a:t>
            </a:r>
            <a:r>
              <a:rPr lang="zh-CN" altLang="en-US" sz="2000">
                <a:latin typeface="Microsoft YaHei" panose="020B0503020204020204" pitchFamily="34" charset="-122"/>
              </a:rPr>
              <a:t>使用真正的 </a:t>
            </a:r>
            <a:r>
              <a:rPr lang="en-US" altLang="zh-CN" sz="2000">
                <a:latin typeface="Microsoft YaHei" panose="020B0503020204020204" pitchFamily="34" charset="-122"/>
              </a:rPr>
              <a:t>suffix automaton state </a:t>
            </a:r>
            <a:r>
              <a:rPr lang="zh-CN" altLang="en-US" sz="2000">
                <a:latin typeface="Microsoft YaHei" panose="020B0503020204020204" pitchFamily="34" charset="-122"/>
              </a:rPr>
              <a:t>在线生成地址。</a:t>
            </a:r>
          </a:p>
          <a:p>
            <a:pPr>
              <a:spcAft>
                <a:spcPts val="600"/>
              </a:spcAft>
            </a:pPr>
            <a:r>
              <a:rPr lang="en-US" altLang="zh-CN" sz="2000">
                <a:latin typeface="Microsoft YaHei" panose="020B0503020204020204" pitchFamily="34" charset="-122"/>
              </a:rPr>
              <a:t>• OnlineRosaState </a:t>
            </a:r>
            <a:r>
              <a:rPr lang="zh-CN" altLang="en-US" sz="2000">
                <a:latin typeface="Microsoft YaHei" panose="020B0503020204020204" pitchFamily="34" charset="-122"/>
              </a:rPr>
              <a:t>维护在线状态，旧 </a:t>
            </a:r>
            <a:r>
              <a:rPr lang="en-US" altLang="zh-CN" sz="2000">
                <a:latin typeface="Microsoft YaHei" panose="020B0503020204020204" pitchFamily="34" charset="-122"/>
              </a:rPr>
              <a:t>list-state </a:t>
            </a:r>
            <a:r>
              <a:rPr lang="zh-CN" altLang="en-US" sz="2000">
                <a:latin typeface="Microsoft YaHei" panose="020B0503020204020204" pitchFamily="34" charset="-122"/>
              </a:rPr>
              <a:t>以 </a:t>
            </a:r>
            <a:r>
              <a:rPr lang="en-US" altLang="zh-CN" sz="2000">
                <a:latin typeface="Microsoft YaHei" panose="020B0503020204020204" pitchFamily="34" charset="-122"/>
              </a:rPr>
              <a:t>ExactMatchRosaState </a:t>
            </a:r>
            <a:r>
              <a:rPr lang="zh-CN" altLang="en-US" sz="2000">
                <a:latin typeface="Microsoft YaHei" panose="020B0503020204020204" pitchFamily="34" charset="-122"/>
              </a:rPr>
              <a:t>形式保留作 </a:t>
            </a:r>
            <a:r>
              <a:rPr lang="en-US" altLang="zh-CN" sz="2000">
                <a:latin typeface="Microsoft YaHei" panose="020B0503020204020204" pitchFamily="34" charset="-122"/>
              </a:rPr>
              <a:t>fallback/reference</a:t>
            </a:r>
            <a:r>
              <a:rPr lang="zh-CN" altLang="en-US" sz="2000">
                <a:latin typeface="Microsoft YaHei" panose="020B0503020204020204" pitchFamily="34" charset="-122"/>
              </a:rPr>
              <a:t>。</a:t>
            </a:r>
          </a:p>
          <a:p>
            <a:pPr>
              <a:spcAft>
                <a:spcPts val="600"/>
              </a:spcAft>
            </a:pPr>
            <a:r>
              <a:rPr lang="en-US" altLang="zh-CN" sz="2000">
                <a:latin typeface="Microsoft YaHei" panose="020B0503020204020204" pitchFamily="34" charset="-122"/>
              </a:rPr>
              <a:t>• doc_local </a:t>
            </a:r>
            <a:r>
              <a:rPr lang="zh-CN" altLang="en-US" sz="2000">
                <a:latin typeface="Microsoft YaHei" panose="020B0503020204020204" pitchFamily="34" charset="-122"/>
              </a:rPr>
              <a:t>在线模式默认提供 </a:t>
            </a:r>
            <a:r>
              <a:rPr lang="en-US" altLang="zh-CN" sz="2000">
                <a:latin typeface="Microsoft YaHei" panose="020B0503020204020204" pitchFamily="34" charset="-122"/>
              </a:rPr>
              <a:t>full doc prefix </a:t>
            </a:r>
            <a:r>
              <a:rPr lang="zh-CN" altLang="en-US" sz="2000">
                <a:latin typeface="Microsoft YaHei" panose="020B0503020204020204" pitchFamily="34" charset="-122"/>
              </a:rPr>
              <a:t>左侧 </a:t>
            </a:r>
            <a:r>
              <a:rPr lang="en-US" altLang="zh-CN" sz="2000">
                <a:latin typeface="Microsoft YaHei" panose="020B0503020204020204" pitchFamily="34" charset="-122"/>
              </a:rPr>
              <a:t>memory</a:t>
            </a:r>
            <a:r>
              <a:rPr lang="zh-CN" altLang="en-US" sz="2000">
                <a:latin typeface="Microsoft YaHei" panose="020B0503020204020204" pitchFamily="34" charset="-122"/>
              </a:rPr>
              <a:t>，与 </a:t>
            </a:r>
            <a:r>
              <a:rPr lang="en-US" altLang="zh-CN" sz="2000">
                <a:latin typeface="Microsoft YaHei" panose="020B0503020204020204" pitchFamily="34" charset="-122"/>
              </a:rPr>
              <a:t>reference </a:t>
            </a:r>
            <a:r>
              <a:rPr lang="zh-CN" altLang="en-US" sz="2000">
                <a:latin typeface="Microsoft YaHei" panose="020B0503020204020204" pitchFamily="34" charset="-122"/>
              </a:rPr>
              <a:t>路径做逐位置对齐。</a:t>
            </a:r>
          </a:p>
          <a:p>
            <a:pPr>
              <a:spcAft>
                <a:spcPts val="600"/>
              </a:spcAft>
            </a:pPr>
            <a:r>
              <a:rPr lang="en-US" altLang="zh-CN" sz="2000"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latin typeface="Microsoft YaHei" panose="020B0503020204020204" pitchFamily="34" charset="-122"/>
              </a:rPr>
              <a:t>工程收益：同一套地址接口可服务训练、评测、</a:t>
            </a:r>
            <a:r>
              <a:rPr lang="en-US" altLang="zh-CN" sz="2000">
                <a:latin typeface="Microsoft YaHei" panose="020B0503020204020204" pitchFamily="34" charset="-122"/>
              </a:rPr>
              <a:t>profile </a:t>
            </a:r>
            <a:r>
              <a:rPr lang="zh-CN" altLang="en-US" sz="2000">
                <a:latin typeface="Microsoft YaHei" panose="020B0503020204020204" pitchFamily="34" charset="-122"/>
              </a:rPr>
              <a:t>与在线 </a:t>
            </a:r>
            <a:r>
              <a:rPr lang="en-US" altLang="zh-CN" sz="2000">
                <a:latin typeface="Microsoft YaHei" panose="020B0503020204020204" pitchFamily="34" charset="-122"/>
              </a:rPr>
              <a:t>decode</a:t>
            </a:r>
            <a:r>
              <a:rPr lang="zh-CN" altLang="en-US" sz="2000">
                <a:latin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423871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CD9AB0-63B6-3A01-5369-BA139997A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b="1">
                <a:latin typeface="Microsoft YaHei UI" panose="020B0503020204020204" pitchFamily="34" charset="-122"/>
              </a:rPr>
              <a:t>注入路径与运行时结构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2854951-4A19-84E7-DE9A-E0712ACE92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zh-CN" sz="2000"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latin typeface="Microsoft YaHei" panose="020B0503020204020204" pitchFamily="34" charset="-122"/>
              </a:rPr>
              <a:t>模型入口为 </a:t>
            </a:r>
            <a:r>
              <a:rPr lang="en-US" altLang="zh-CN" sz="2000">
                <a:latin typeface="Microsoft YaHei" panose="020B0503020204020204" pitchFamily="34" charset="-122"/>
              </a:rPr>
              <a:t>RosaFusedLM</a:t>
            </a:r>
            <a:r>
              <a:rPr lang="zh-CN" altLang="en-US" sz="2000">
                <a:latin typeface="Microsoft YaHei" panose="020B0503020204020204" pitchFamily="34" charset="-122"/>
              </a:rPr>
              <a:t>，主路径是 </a:t>
            </a:r>
            <a:r>
              <a:rPr lang="en-US" altLang="zh-CN" sz="2000">
                <a:latin typeface="Microsoft YaHei" panose="020B0503020204020204" pitchFamily="34" charset="-122"/>
              </a:rPr>
              <a:t>compute_rosa_address_batch() -&gt; build_rosa_injection_payload() -&gt; forward(..., rosa_payload=...)</a:t>
            </a:r>
            <a:r>
              <a:rPr lang="zh-CN" altLang="en-US" sz="2000">
                <a:latin typeface="Microsoft YaHei" panose="020B0503020204020204" pitchFamily="34" charset="-122"/>
              </a:rPr>
              <a:t>。</a:t>
            </a:r>
          </a:p>
          <a:p>
            <a:pPr>
              <a:spcAft>
                <a:spcPts val="600"/>
              </a:spcAft>
            </a:pPr>
            <a:r>
              <a:rPr lang="en-US" altLang="zh-CN" sz="2000">
                <a:latin typeface="Microsoft YaHei" panose="020B0503020204020204" pitchFamily="34" charset="-122"/>
              </a:rPr>
              <a:t>• value backend </a:t>
            </a:r>
            <a:r>
              <a:rPr lang="zh-CN" altLang="en-US" sz="2000">
                <a:latin typeface="Microsoft YaHei" panose="020B0503020204020204" pitchFamily="34" charset="-122"/>
              </a:rPr>
              <a:t>支持 </a:t>
            </a:r>
            <a:r>
              <a:rPr lang="en-US" altLang="zh-CN" sz="2000">
                <a:latin typeface="Microsoft YaHei" panose="020B0503020204020204" pitchFamily="34" charset="-122"/>
              </a:rPr>
              <a:t>shared </a:t>
            </a:r>
            <a:r>
              <a:rPr lang="zh-CN" altLang="en-US" sz="2000">
                <a:latin typeface="Microsoft YaHei" panose="020B0503020204020204" pitchFamily="34" charset="-122"/>
              </a:rPr>
              <a:t>与 </a:t>
            </a:r>
            <a:r>
              <a:rPr lang="en-US" altLang="zh-CN" sz="2000">
                <a:latin typeface="Microsoft YaHei" panose="020B0503020204020204" pitchFamily="34" charset="-122"/>
              </a:rPr>
              <a:t>per_layer</a:t>
            </a:r>
            <a:r>
              <a:rPr lang="zh-CN" altLang="en-US" sz="2000">
                <a:latin typeface="Microsoft YaHei" panose="020B0503020204020204" pitchFamily="34" charset="-122"/>
              </a:rPr>
              <a:t>；</a:t>
            </a:r>
            <a:r>
              <a:rPr lang="en-US" altLang="zh-CN" sz="2000">
                <a:latin typeface="Microsoft YaHei" panose="020B0503020204020204" pitchFamily="34" charset="-122"/>
              </a:rPr>
              <a:t>per_layer </a:t>
            </a:r>
            <a:r>
              <a:rPr lang="zh-CN" altLang="en-US" sz="2000">
                <a:latin typeface="Microsoft YaHei" panose="020B0503020204020204" pitchFamily="34" charset="-122"/>
              </a:rPr>
              <a:t>可为每个注入层维护独立 </a:t>
            </a:r>
            <a:r>
              <a:rPr lang="en-US" altLang="zh-CN" sz="2000">
                <a:latin typeface="Microsoft YaHei" panose="020B0503020204020204" pitchFamily="34" charset="-122"/>
              </a:rPr>
              <a:t>value store</a:t>
            </a:r>
            <a:r>
              <a:rPr lang="zh-CN" altLang="en-US" sz="2000">
                <a:latin typeface="Microsoft YaHei" panose="020B0503020204020204" pitchFamily="34" charset="-122"/>
              </a:rPr>
              <a:t>，并从共享 </a:t>
            </a:r>
            <a:r>
              <a:rPr lang="en-US" altLang="zh-CN" sz="2000">
                <a:latin typeface="Microsoft YaHei" panose="020B0503020204020204" pitchFamily="34" charset="-122"/>
              </a:rPr>
              <a:t>embedding </a:t>
            </a:r>
            <a:r>
              <a:rPr lang="zh-CN" altLang="en-US" sz="2000">
                <a:latin typeface="Microsoft YaHei" panose="020B0503020204020204" pitchFamily="34" charset="-122"/>
              </a:rPr>
              <a:t>平滑初始化。</a:t>
            </a:r>
          </a:p>
          <a:p>
            <a:pPr>
              <a:spcAft>
                <a:spcPts val="600"/>
              </a:spcAft>
            </a:pPr>
            <a:r>
              <a:rPr lang="en-US" altLang="zh-CN" sz="2000">
                <a:latin typeface="Microsoft YaHei" panose="020B0503020204020204" pitchFamily="34" charset="-122"/>
              </a:rPr>
              <a:t>• gate </a:t>
            </a:r>
            <a:r>
              <a:rPr lang="zh-CN" altLang="en-US" sz="2000">
                <a:latin typeface="Microsoft YaHei" panose="020B0503020204020204" pitchFamily="34" charset="-122"/>
              </a:rPr>
              <a:t>机制由 </a:t>
            </a:r>
            <a:r>
              <a:rPr lang="en-US" altLang="zh-CN" sz="2000">
                <a:latin typeface="Microsoft YaHei" panose="020B0503020204020204" pitchFamily="34" charset="-122"/>
              </a:rPr>
              <a:t>match_len prior </a:t>
            </a:r>
            <a:r>
              <a:rPr lang="zh-CN" altLang="en-US" sz="2000">
                <a:latin typeface="Microsoft YaHei" panose="020B0503020204020204" pitchFamily="34" charset="-122"/>
              </a:rPr>
              <a:t>与可选的 </a:t>
            </a:r>
            <a:r>
              <a:rPr lang="en-US" altLang="zh-CN" sz="2000">
                <a:latin typeface="Microsoft YaHei" panose="020B0503020204020204" pitchFamily="34" charset="-122"/>
              </a:rPr>
              <a:t>context-aware gate </a:t>
            </a:r>
            <a:r>
              <a:rPr lang="zh-CN" altLang="en-US" sz="2000">
                <a:latin typeface="Microsoft YaHei" panose="020B0503020204020204" pitchFamily="34" charset="-122"/>
              </a:rPr>
              <a:t>组成，用当前 </a:t>
            </a:r>
            <a:r>
              <a:rPr lang="en-US" altLang="zh-CN" sz="2000">
                <a:latin typeface="Microsoft YaHei" panose="020B0503020204020204" pitchFamily="34" charset="-122"/>
              </a:rPr>
              <a:t>hidden state </a:t>
            </a:r>
            <a:r>
              <a:rPr lang="zh-CN" altLang="en-US" sz="2000">
                <a:latin typeface="Microsoft YaHei" panose="020B0503020204020204" pitchFamily="34" charset="-122"/>
              </a:rPr>
              <a:t>与 </a:t>
            </a:r>
            <a:r>
              <a:rPr lang="en-US" altLang="zh-CN" sz="2000">
                <a:latin typeface="Microsoft YaHei" panose="020B0503020204020204" pitchFamily="34" charset="-122"/>
              </a:rPr>
              <a:t>memory value </a:t>
            </a:r>
            <a:r>
              <a:rPr lang="zh-CN" altLang="en-US" sz="2000">
                <a:latin typeface="Microsoft YaHei" panose="020B0503020204020204" pitchFamily="34" charset="-122"/>
              </a:rPr>
              <a:t>共同决定注入强度。</a:t>
            </a:r>
          </a:p>
          <a:p>
            <a:pPr>
              <a:spcAft>
                <a:spcPts val="600"/>
              </a:spcAft>
            </a:pPr>
            <a:r>
              <a:rPr lang="en-US" altLang="zh-CN" sz="2000"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latin typeface="Microsoft YaHei" panose="020B0503020204020204" pitchFamily="34" charset="-122"/>
              </a:rPr>
              <a:t>层位控制通过 </a:t>
            </a:r>
            <a:r>
              <a:rPr lang="en-US" altLang="zh-CN" sz="2000">
                <a:latin typeface="Microsoft YaHei" panose="020B0503020204020204" pitchFamily="34" charset="-122"/>
              </a:rPr>
              <a:t>rosa_inject_layer_ids </a:t>
            </a:r>
            <a:r>
              <a:rPr lang="zh-CN" altLang="en-US" sz="2000">
                <a:latin typeface="Microsoft YaHei" panose="020B0503020204020204" pitchFamily="34" charset="-122"/>
              </a:rPr>
              <a:t>完成，</a:t>
            </a:r>
            <a:r>
              <a:rPr lang="en-US" altLang="zh-CN" sz="2000">
                <a:latin typeface="Microsoft YaHei" panose="020B0503020204020204" pitchFamily="34" charset="-122"/>
              </a:rPr>
              <a:t>rosa_layer_sweep.py </a:t>
            </a:r>
            <a:r>
              <a:rPr lang="zh-CN" altLang="en-US" sz="2000">
                <a:latin typeface="Microsoft YaHei" panose="020B0503020204020204" pitchFamily="34" charset="-122"/>
              </a:rPr>
              <a:t>可做单层与层对扫描。</a:t>
            </a:r>
          </a:p>
          <a:p>
            <a:pPr>
              <a:spcAft>
                <a:spcPts val="600"/>
              </a:spcAft>
            </a:pPr>
            <a:r>
              <a:rPr lang="en-US" altLang="zh-CN" sz="2000"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latin typeface="Microsoft YaHei" panose="020B0503020204020204" pitchFamily="34" charset="-122"/>
              </a:rPr>
              <a:t>运行时已支持 </a:t>
            </a:r>
            <a:r>
              <a:rPr lang="en-US" altLang="zh-CN" sz="2000">
                <a:latin typeface="Microsoft YaHei" panose="020B0503020204020204" pitchFamily="34" charset="-122"/>
              </a:rPr>
              <a:t>prefetch</a:t>
            </a:r>
            <a:r>
              <a:rPr lang="zh-CN" altLang="en-US" sz="2000">
                <a:latin typeface="Microsoft YaHei" panose="020B0503020204020204" pitchFamily="34" charset="-122"/>
              </a:rPr>
              <a:t>、</a:t>
            </a:r>
            <a:r>
              <a:rPr lang="en-US" altLang="zh-CN" sz="2000">
                <a:latin typeface="Microsoft YaHei" panose="020B0503020204020204" pitchFamily="34" charset="-122"/>
              </a:rPr>
              <a:t>staging buffer </a:t>
            </a:r>
            <a:r>
              <a:rPr lang="zh-CN" altLang="en-US" sz="2000">
                <a:latin typeface="Microsoft YaHei" panose="020B0503020204020204" pitchFamily="34" charset="-122"/>
              </a:rPr>
              <a:t>与 </a:t>
            </a:r>
            <a:r>
              <a:rPr lang="en-US" altLang="zh-CN" sz="2000">
                <a:latin typeface="Microsoft YaHei" panose="020B0503020204020204" pitchFamily="34" charset="-122"/>
              </a:rPr>
              <a:t>hot cache</a:t>
            </a:r>
            <a:r>
              <a:rPr lang="zh-CN" altLang="en-US" sz="2000">
                <a:latin typeface="Microsoft YaHei" panose="020B0503020204020204" pitchFamily="34" charset="-122"/>
              </a:rPr>
              <a:t>，为后续 </a:t>
            </a:r>
            <a:r>
              <a:rPr lang="en-US" altLang="zh-CN" sz="2000">
                <a:latin typeface="Microsoft YaHei" panose="020B0503020204020204" pitchFamily="34" charset="-122"/>
              </a:rPr>
              <a:t>host memory / mmap </a:t>
            </a:r>
            <a:r>
              <a:rPr lang="zh-CN" altLang="en-US" sz="2000">
                <a:latin typeface="Microsoft YaHei" panose="020B0503020204020204" pitchFamily="34" charset="-122"/>
              </a:rPr>
              <a:t>路线做准备。</a:t>
            </a:r>
          </a:p>
        </p:txBody>
      </p:sp>
    </p:spTree>
    <p:extLst>
      <p:ext uri="{BB962C8B-B14F-4D97-AF65-F5344CB8AC3E}">
        <p14:creationId xmlns:p14="http://schemas.microsoft.com/office/powerpoint/2010/main" val="360095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5117D5-1CE3-B5AB-C91C-0F454227F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b="1">
                <a:latin typeface="Microsoft YaHei UI" panose="020B0503020204020204" pitchFamily="34" charset="-122"/>
              </a:rPr>
              <a:t>工程验证、性能现状与下一步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36537C-A39B-8354-F062-857EB3FDE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zh-CN" sz="2000"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latin typeface="Microsoft YaHei" panose="020B0503020204020204" pitchFamily="34" charset="-122"/>
              </a:rPr>
              <a:t>一致性回归：</a:t>
            </a:r>
            <a:r>
              <a:rPr lang="en-US" altLang="zh-CN" sz="2000">
                <a:latin typeface="Microsoft YaHei" panose="020B0503020204020204" pitchFamily="34" charset="-122"/>
              </a:rPr>
              <a:t>online_seq </a:t>
            </a:r>
            <a:r>
              <a:rPr lang="zh-CN" altLang="en-US" sz="2000">
                <a:latin typeface="Microsoft YaHei" panose="020B0503020204020204" pitchFamily="34" charset="-122"/>
              </a:rPr>
              <a:t>训练路径与 </a:t>
            </a:r>
            <a:r>
              <a:rPr lang="en-US" altLang="zh-CN" sz="2000">
                <a:latin typeface="Microsoft YaHei" panose="020B0503020204020204" pitchFamily="34" charset="-122"/>
              </a:rPr>
              <a:t>reference_precompute </a:t>
            </a:r>
            <a:r>
              <a:rPr lang="zh-CN" altLang="en-US" sz="2000">
                <a:latin typeface="Microsoft YaHei" panose="020B0503020204020204" pitchFamily="34" charset="-122"/>
              </a:rPr>
              <a:t>已做到 </a:t>
            </a:r>
            <a:r>
              <a:rPr lang="en-US" altLang="zh-CN" sz="2000">
                <a:latin typeface="Microsoft YaHei" panose="020B0503020204020204" pitchFamily="34" charset="-122"/>
              </a:rPr>
              <a:t>train path address agreement = 1.0</a:t>
            </a:r>
            <a:r>
              <a:rPr lang="zh-CN" altLang="en-US" sz="2000">
                <a:latin typeface="Microsoft YaHei" panose="020B0503020204020204" pitchFamily="34" charset="-122"/>
              </a:rPr>
              <a:t>、</a:t>
            </a:r>
            <a:r>
              <a:rPr lang="en-US" altLang="zh-CN" sz="2000">
                <a:latin typeface="Microsoft YaHei" panose="020B0503020204020204" pitchFamily="34" charset="-122"/>
              </a:rPr>
              <a:t>logit diff = 0.0</a:t>
            </a:r>
            <a:r>
              <a:rPr lang="zh-CN" altLang="en-US" sz="2000">
                <a:latin typeface="Microsoft YaHei" panose="020B0503020204020204" pitchFamily="34" charset="-122"/>
              </a:rPr>
              <a:t>。</a:t>
            </a:r>
          </a:p>
          <a:p>
            <a:pPr>
              <a:spcAft>
                <a:spcPts val="600"/>
              </a:spcAft>
            </a:pPr>
            <a:r>
              <a:rPr lang="en-US" altLang="zh-CN" sz="2000"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latin typeface="Microsoft YaHei" panose="020B0503020204020204" pitchFamily="34" charset="-122"/>
              </a:rPr>
              <a:t>测试覆盖：仓库当前已有 </a:t>
            </a:r>
            <a:r>
              <a:rPr lang="en-US" altLang="zh-CN" sz="2000">
                <a:latin typeface="Microsoft YaHei" panose="020B0503020204020204" pitchFamily="34" charset="-122"/>
              </a:rPr>
              <a:t>56 </a:t>
            </a:r>
            <a:r>
              <a:rPr lang="zh-CN" altLang="en-US" sz="2000">
                <a:latin typeface="Microsoft YaHei" panose="020B0503020204020204" pitchFamily="34" charset="-122"/>
              </a:rPr>
              <a:t>个测试，覆盖地址引擎、</a:t>
            </a:r>
            <a:r>
              <a:rPr lang="en-US" altLang="zh-CN" sz="2000">
                <a:latin typeface="Microsoft YaHei" panose="020B0503020204020204" pitchFamily="34" charset="-122"/>
              </a:rPr>
              <a:t>runtime</a:t>
            </a:r>
            <a:r>
              <a:rPr lang="zh-CN" altLang="en-US" sz="2000">
                <a:latin typeface="Microsoft YaHei" panose="020B0503020204020204" pitchFamily="34" charset="-122"/>
              </a:rPr>
              <a:t>、</a:t>
            </a:r>
            <a:r>
              <a:rPr lang="en-US" altLang="zh-CN" sz="2000">
                <a:latin typeface="Microsoft YaHei" panose="020B0503020204020204" pitchFamily="34" charset="-122"/>
              </a:rPr>
              <a:t>session</a:t>
            </a:r>
            <a:r>
              <a:rPr lang="zh-CN" altLang="en-US" sz="2000">
                <a:latin typeface="Microsoft YaHei" panose="020B0503020204020204" pitchFamily="34" charset="-122"/>
              </a:rPr>
              <a:t>、</a:t>
            </a:r>
            <a:r>
              <a:rPr lang="en-US" altLang="zh-CN" sz="2000">
                <a:latin typeface="Microsoft YaHei" panose="020B0503020204020204" pitchFamily="34" charset="-122"/>
              </a:rPr>
              <a:t>profile </a:t>
            </a:r>
            <a:r>
              <a:rPr lang="zh-CN" altLang="en-US" sz="2000">
                <a:latin typeface="Microsoft YaHei" panose="020B0503020204020204" pitchFamily="34" charset="-122"/>
              </a:rPr>
              <a:t>与主训练入口。</a:t>
            </a:r>
          </a:p>
          <a:p>
            <a:pPr>
              <a:spcAft>
                <a:spcPts val="600"/>
              </a:spcAft>
            </a:pPr>
            <a:r>
              <a:rPr lang="en-US" altLang="zh-CN" sz="2000"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latin typeface="Microsoft YaHei" panose="020B0503020204020204" pitchFamily="34" charset="-122"/>
              </a:rPr>
              <a:t>当前 </a:t>
            </a:r>
            <a:r>
              <a:rPr lang="en-US" altLang="zh-CN" sz="2000">
                <a:latin typeface="Microsoft YaHei" panose="020B0503020204020204" pitchFamily="34" charset="-122"/>
              </a:rPr>
              <a:t>timing</a:t>
            </a:r>
            <a:r>
              <a:rPr lang="zh-CN" altLang="en-US" sz="2000">
                <a:latin typeface="Microsoft YaHei" panose="020B0503020204020204" pitchFamily="34" charset="-122"/>
              </a:rPr>
              <a:t>：</a:t>
            </a:r>
            <a:r>
              <a:rPr lang="en-US" altLang="zh-CN" sz="2000">
                <a:latin typeface="Microsoft YaHei" panose="020B0503020204020204" pitchFamily="34" charset="-122"/>
              </a:rPr>
              <a:t>baseline step </a:t>
            </a:r>
            <a:r>
              <a:rPr lang="zh-CN" altLang="en-US" sz="2000">
                <a:latin typeface="Microsoft YaHei" panose="020B0503020204020204" pitchFamily="34" charset="-122"/>
              </a:rPr>
              <a:t>约 </a:t>
            </a:r>
            <a:r>
              <a:rPr lang="en-US" altLang="zh-CN" sz="2000">
                <a:latin typeface="Microsoft YaHei" panose="020B0503020204020204" pitchFamily="34" charset="-122"/>
              </a:rPr>
              <a:t>37.9 ms</a:t>
            </a:r>
            <a:r>
              <a:rPr lang="zh-CN" altLang="en-US" sz="2000">
                <a:latin typeface="Microsoft YaHei" panose="020B0503020204020204" pitchFamily="34" charset="-122"/>
              </a:rPr>
              <a:t>，</a:t>
            </a:r>
            <a:r>
              <a:rPr lang="en-US" altLang="zh-CN" sz="2000">
                <a:latin typeface="Microsoft YaHei" panose="020B0503020204020204" pitchFamily="34" charset="-122"/>
              </a:rPr>
              <a:t>rosa_fused step </a:t>
            </a:r>
            <a:r>
              <a:rPr lang="zh-CN" altLang="en-US" sz="2000">
                <a:latin typeface="Microsoft YaHei" panose="020B0503020204020204" pitchFamily="34" charset="-122"/>
              </a:rPr>
              <a:t>约 </a:t>
            </a:r>
            <a:r>
              <a:rPr lang="en-US" altLang="zh-CN" sz="2000">
                <a:latin typeface="Microsoft YaHei" panose="020B0503020204020204" pitchFamily="34" charset="-122"/>
              </a:rPr>
              <a:t>124.1 ms</a:t>
            </a:r>
            <a:r>
              <a:rPr lang="zh-CN" altLang="en-US" sz="2000">
                <a:latin typeface="Microsoft YaHei" panose="020B0503020204020204" pitchFamily="34" charset="-122"/>
              </a:rPr>
              <a:t>，主要慢点集中在地址支路 </a:t>
            </a:r>
            <a:r>
              <a:rPr lang="en-US" altLang="zh-CN" sz="2000">
                <a:latin typeface="Microsoft YaHei" panose="020B0503020204020204" pitchFamily="34" charset="-122"/>
              </a:rPr>
              <a:t>rosa_addr </a:t>
            </a:r>
            <a:r>
              <a:rPr lang="zh-CN" altLang="en-US" sz="2000">
                <a:latin typeface="Microsoft YaHei" panose="020B0503020204020204" pitchFamily="34" charset="-122"/>
              </a:rPr>
              <a:t>约 </a:t>
            </a:r>
            <a:r>
              <a:rPr lang="en-US" altLang="zh-CN" sz="2000">
                <a:latin typeface="Microsoft YaHei" panose="020B0503020204020204" pitchFamily="34" charset="-122"/>
              </a:rPr>
              <a:t>85.7 ms</a:t>
            </a:r>
            <a:r>
              <a:rPr lang="zh-CN" altLang="en-US" sz="2000">
                <a:latin typeface="Microsoft YaHei" panose="020B0503020204020204" pitchFamily="34" charset="-122"/>
              </a:rPr>
              <a:t>。</a:t>
            </a:r>
          </a:p>
          <a:p>
            <a:pPr>
              <a:spcAft>
                <a:spcPts val="600"/>
              </a:spcAft>
            </a:pPr>
            <a:r>
              <a:rPr lang="en-US" altLang="zh-CN" sz="2000"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latin typeface="Microsoft YaHei" panose="020B0503020204020204" pitchFamily="34" charset="-122"/>
              </a:rPr>
              <a:t>当前收益：</a:t>
            </a:r>
            <a:r>
              <a:rPr lang="en-US" altLang="zh-CN" sz="2000">
                <a:latin typeface="Microsoft YaHei" panose="020B0503020204020204" pitchFamily="34" charset="-122"/>
              </a:rPr>
              <a:t>session </a:t>
            </a:r>
            <a:r>
              <a:rPr lang="zh-CN" altLang="en-US" sz="2000">
                <a:latin typeface="Microsoft YaHei" panose="020B0503020204020204" pitchFamily="34" charset="-122"/>
              </a:rPr>
              <a:t>已统一 </a:t>
            </a:r>
            <a:r>
              <a:rPr lang="en-US" altLang="zh-CN" sz="2000">
                <a:latin typeface="Microsoft YaHei" panose="020B0503020204020204" pitchFamily="34" charset="-122"/>
              </a:rPr>
              <a:t>prefill + decode </a:t>
            </a:r>
            <a:r>
              <a:rPr lang="zh-CN" altLang="en-US" sz="2000">
                <a:latin typeface="Microsoft YaHei" panose="020B0503020204020204" pitchFamily="34" charset="-122"/>
              </a:rPr>
              <a:t>生命周期，</a:t>
            </a:r>
            <a:r>
              <a:rPr lang="en-US" altLang="zh-CN" sz="2000">
                <a:latin typeface="Microsoft YaHei" panose="020B0503020204020204" pitchFamily="34" charset="-122"/>
              </a:rPr>
              <a:t>prefetch / staging / hot cache </a:t>
            </a:r>
            <a:r>
              <a:rPr lang="zh-CN" altLang="en-US" sz="2000">
                <a:latin typeface="Microsoft YaHei" panose="020B0503020204020204" pitchFamily="34" charset="-122"/>
              </a:rPr>
              <a:t>已正式接入主线。</a:t>
            </a:r>
          </a:p>
          <a:p>
            <a:pPr>
              <a:spcAft>
                <a:spcPts val="600"/>
              </a:spcAft>
            </a:pPr>
            <a:r>
              <a:rPr lang="en-US" altLang="zh-CN" sz="2000"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latin typeface="Microsoft YaHei" panose="020B0503020204020204" pitchFamily="34" charset="-122"/>
              </a:rPr>
              <a:t>下一步重点：地址支路异步化与 </a:t>
            </a:r>
            <a:r>
              <a:rPr lang="en-US" altLang="zh-CN" sz="2000">
                <a:latin typeface="Microsoft YaHei" panose="020B0503020204020204" pitchFamily="34" charset="-122"/>
              </a:rPr>
              <a:t>overlap</a:t>
            </a:r>
            <a:r>
              <a:rPr lang="zh-CN" altLang="en-US" sz="2000">
                <a:latin typeface="Microsoft YaHei" panose="020B0503020204020204" pitchFamily="34" charset="-122"/>
              </a:rPr>
              <a:t>、</a:t>
            </a:r>
            <a:r>
              <a:rPr lang="en-US" altLang="zh-CN" sz="2000">
                <a:latin typeface="Microsoft YaHei" panose="020B0503020204020204" pitchFamily="34" charset="-122"/>
              </a:rPr>
              <a:t>DocMemory </a:t>
            </a:r>
            <a:r>
              <a:rPr lang="zh-CN" altLang="en-US" sz="2000">
                <a:latin typeface="Microsoft YaHei" panose="020B0503020204020204" pitchFamily="34" charset="-122"/>
              </a:rPr>
              <a:t>外部文档记忆、更正式的 </a:t>
            </a:r>
            <a:r>
              <a:rPr lang="en-US" altLang="zh-CN" sz="2000">
                <a:latin typeface="Microsoft YaHei" panose="020B0503020204020204" pitchFamily="34" charset="-122"/>
              </a:rPr>
              <a:t>value store </a:t>
            </a:r>
            <a:r>
              <a:rPr lang="zh-CN" altLang="en-US" sz="2000">
                <a:latin typeface="Microsoft YaHei" panose="020B0503020204020204" pitchFamily="34" charset="-122"/>
              </a:rPr>
              <a:t>与 </a:t>
            </a:r>
            <a:r>
              <a:rPr lang="en-US" altLang="zh-CN" sz="2000">
                <a:latin typeface="Microsoft YaHei" panose="020B0503020204020204" pitchFamily="34" charset="-122"/>
              </a:rPr>
              <a:t>host memory </a:t>
            </a:r>
            <a:r>
              <a:rPr lang="zh-CN" altLang="en-US" sz="2000">
                <a:latin typeface="Microsoft YaHei" panose="020B0503020204020204" pitchFamily="34" charset="-122"/>
              </a:rPr>
              <a:t>路线。</a:t>
            </a:r>
          </a:p>
        </p:txBody>
      </p:sp>
    </p:spTree>
    <p:extLst>
      <p:ext uri="{BB962C8B-B14F-4D97-AF65-F5344CB8AC3E}">
        <p14:creationId xmlns:p14="http://schemas.microsoft.com/office/powerpoint/2010/main" val="1463730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585</Words>
  <Application>Microsoft Office PowerPoint</Application>
  <PresentationFormat>宽屏</PresentationFormat>
  <Paragraphs>27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Microsoft YaHei UI</vt:lpstr>
      <vt:lpstr>等线</vt:lpstr>
      <vt:lpstr>等线 Light</vt:lpstr>
      <vt:lpstr>Microsoft YaHei</vt:lpstr>
      <vt:lpstr>Arial</vt:lpstr>
      <vt:lpstr>Office 主题​​</vt:lpstr>
      <vt:lpstr>当前 ROSA 实现技术方案</vt:lpstr>
      <vt:lpstr>系统目标与总体架构</vt:lpstr>
      <vt:lpstr>地址生成主线（AddressEngine + Online SAM）</vt:lpstr>
      <vt:lpstr>注入路径与运行时结构</vt:lpstr>
      <vt:lpstr>工程验证、性能现状与下一步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Mingda Liu</dc:creator>
  <cp:lastModifiedBy>Mingda Liu</cp:lastModifiedBy>
  <cp:revision>1</cp:revision>
  <dcterms:created xsi:type="dcterms:W3CDTF">2026-04-08T03:10:23Z</dcterms:created>
  <dcterms:modified xsi:type="dcterms:W3CDTF">2026-04-08T03:10:23Z</dcterms:modified>
</cp:coreProperties>
</file>